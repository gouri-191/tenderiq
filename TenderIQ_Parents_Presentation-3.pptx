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project. TenderIQ takes a long tender document and produces a short, clear summary: deadlines, fees, required documents and risks.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tender is an official notice inviting businesses to bid for a job. The important details are hidden among many pages. One missed deadline or document can cancel an application. TenderIQ pulls these details onto one clear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left to right. Input: the user uploads a file or pastes text, and the text is read from every page. Processing: the text is cleaned, key details such as dates, money and names are found with patterns, and each line is labelled by topic. Output: a one-page dashboard with alerts and a downloadable JSON report. Show the live app here if possible.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dashboard produced for our sample tender: title, reference number, issuer, alerts, key dates, fees, required documents and eligibility. It found the key details correctly. It works best on well-organised documents; next we want to support scanned files and more languages.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502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NLP MINI PROJECT</a:t>
            </a:r>
            <a:endParaRPr lang="en-US" sz="14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9144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TenderIQ</a:t>
            </a:r>
            <a:endParaRPr lang="en-US" sz="5600" dirty="0"/>
          </a:p>
        </p:txBody>
      </p:sp>
      <p:sp>
        <p:nvSpPr>
          <p:cNvPr id="4" name="Subtitle"/>
          <p:cNvSpPr txBox="1"/>
          <p:nvPr/>
        </p:nvSpPr>
        <p:spPr>
          <a:xfrm>
            <a:off x="548640" y="187452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 smart assistant that reads long tender documents and tells you what matters</a:t>
            </a:r>
            <a:endParaRPr lang="en-US" sz="20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315468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Kunal Pandey (TEB236)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Bhoomika Singh (TEB252)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Gouri Vastava (TEB259)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Suraj Yadav (TEB263)</a:t>
            </a:r>
            <a:endParaRPr lang="en-US" sz="1600" dirty="0"/>
          </a:p>
        </p:txBody>
      </p:sp>
      <p:sp>
        <p:nvSpPr>
          <p:cNvPr id="6" name="HeroPage"/>
          <p:cNvSpPr/>
          <p:nvPr/>
        </p:nvSpPr>
        <p:spPr>
          <a:xfrm>
            <a:off x="5212080" y="822960"/>
            <a:ext cx="1463040" cy="228600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7" name="HeroLine0"/>
          <p:cNvSpPr/>
          <p:nvPr/>
        </p:nvSpPr>
        <p:spPr>
          <a:xfrm>
            <a:off x="5349240" y="987552"/>
            <a:ext cx="1010412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HeroLine1"/>
          <p:cNvSpPr/>
          <p:nvPr/>
        </p:nvSpPr>
        <p:spPr>
          <a:xfrm>
            <a:off x="5349240" y="1188720"/>
            <a:ext cx="1188720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HeroLine2"/>
          <p:cNvSpPr/>
          <p:nvPr/>
        </p:nvSpPr>
        <p:spPr>
          <a:xfrm>
            <a:off x="5349240" y="1389888"/>
            <a:ext cx="1188720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HeroHl3"/>
          <p:cNvSpPr/>
          <p:nvPr/>
        </p:nvSpPr>
        <p:spPr>
          <a:xfrm>
            <a:off x="5321808" y="1563624"/>
            <a:ext cx="1243584" cy="219456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HeroHlText3"/>
          <p:cNvSpPr txBox="1"/>
          <p:nvPr/>
        </p:nvSpPr>
        <p:spPr>
          <a:xfrm>
            <a:off x="5394960" y="1563624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Deadline</a:t>
            </a:r>
            <a:endParaRPr lang="en-US" sz="1100" dirty="0"/>
          </a:p>
        </p:txBody>
      </p:sp>
      <p:sp>
        <p:nvSpPr>
          <p:cNvPr id="12" name="HeroLine4"/>
          <p:cNvSpPr/>
          <p:nvPr/>
        </p:nvSpPr>
        <p:spPr>
          <a:xfrm>
            <a:off x="5349240" y="1792224"/>
            <a:ext cx="1188720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HeroLine5"/>
          <p:cNvSpPr/>
          <p:nvPr/>
        </p:nvSpPr>
        <p:spPr>
          <a:xfrm>
            <a:off x="5349240" y="1993392"/>
            <a:ext cx="1188720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HeroLine6"/>
          <p:cNvSpPr/>
          <p:nvPr/>
        </p:nvSpPr>
        <p:spPr>
          <a:xfrm>
            <a:off x="5349240" y="2194560"/>
            <a:ext cx="1010412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HeroHl7"/>
          <p:cNvSpPr/>
          <p:nvPr/>
        </p:nvSpPr>
        <p:spPr>
          <a:xfrm>
            <a:off x="5321808" y="2368296"/>
            <a:ext cx="1243584" cy="219456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HeroHlText7"/>
          <p:cNvSpPr txBox="1"/>
          <p:nvPr/>
        </p:nvSpPr>
        <p:spPr>
          <a:xfrm>
            <a:off x="5394960" y="23682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Fees</a:t>
            </a:r>
            <a:endParaRPr lang="en-US" sz="1100" dirty="0"/>
          </a:p>
        </p:txBody>
      </p:sp>
      <p:sp>
        <p:nvSpPr>
          <p:cNvPr id="17" name="HeroLine8"/>
          <p:cNvSpPr/>
          <p:nvPr/>
        </p:nvSpPr>
        <p:spPr>
          <a:xfrm>
            <a:off x="5349240" y="2596896"/>
            <a:ext cx="1188720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HeroLine9"/>
          <p:cNvSpPr/>
          <p:nvPr/>
        </p:nvSpPr>
        <p:spPr>
          <a:xfrm>
            <a:off x="5349240" y="2798064"/>
            <a:ext cx="1010412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HeroArrow"/>
          <p:cNvSpPr/>
          <p:nvPr/>
        </p:nvSpPr>
        <p:spPr>
          <a:xfrm>
            <a:off x="6784848" y="1691640"/>
            <a:ext cx="457200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0" name="HeroCard"/>
          <p:cNvSpPr/>
          <p:nvPr/>
        </p:nvSpPr>
        <p:spPr>
          <a:xfrm>
            <a:off x="7315200" y="822960"/>
            <a:ext cx="1463040" cy="2286000"/>
          </a:xfrm>
          <a:prstGeom prst="roundRect">
            <a:avLst>
              <a:gd name="adj" fmla="val 3750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HeroCardHead"/>
          <p:cNvSpPr txBox="1"/>
          <p:nvPr/>
        </p:nvSpPr>
        <p:spPr>
          <a:xfrm>
            <a:off x="7452360" y="9326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SUMMARY</a:t>
            </a:r>
            <a:endParaRPr lang="en-US" sz="1200" dirty="0"/>
          </a:p>
        </p:txBody>
      </p:sp>
      <p:sp>
        <p:nvSpPr>
          <p:cNvPr id="22" name="HeroChip0"/>
          <p:cNvSpPr/>
          <p:nvPr/>
        </p:nvSpPr>
        <p:spPr>
          <a:xfrm>
            <a:off x="7452360" y="1325880"/>
            <a:ext cx="1188720" cy="329184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HeroChipText0"/>
          <p:cNvSpPr txBox="1"/>
          <p:nvPr/>
        </p:nvSpPr>
        <p:spPr>
          <a:xfrm>
            <a:off x="7452360" y="13258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Deadline</a:t>
            </a:r>
            <a:endParaRPr lang="en-US" sz="1200" dirty="0"/>
          </a:p>
        </p:txBody>
      </p:sp>
      <p:sp>
        <p:nvSpPr>
          <p:cNvPr id="24" name="HeroChip1"/>
          <p:cNvSpPr/>
          <p:nvPr/>
        </p:nvSpPr>
        <p:spPr>
          <a:xfrm>
            <a:off x="7452360" y="1764792"/>
            <a:ext cx="1188720" cy="329184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HeroChipText1"/>
          <p:cNvSpPr txBox="1"/>
          <p:nvPr/>
        </p:nvSpPr>
        <p:spPr>
          <a:xfrm>
            <a:off x="7452360" y="1764792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Fees</a:t>
            </a:r>
            <a:endParaRPr lang="en-US" sz="1200" dirty="0"/>
          </a:p>
        </p:txBody>
      </p:sp>
      <p:sp>
        <p:nvSpPr>
          <p:cNvPr id="26" name="HeroChip2"/>
          <p:cNvSpPr/>
          <p:nvPr/>
        </p:nvSpPr>
        <p:spPr>
          <a:xfrm>
            <a:off x="7452360" y="2203704"/>
            <a:ext cx="1188720" cy="329184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HeroChipText2"/>
          <p:cNvSpPr txBox="1"/>
          <p:nvPr/>
        </p:nvSpPr>
        <p:spPr>
          <a:xfrm>
            <a:off x="7452360" y="2203704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Documents</a:t>
            </a:r>
            <a:endParaRPr lang="en-US" sz="1200" dirty="0"/>
          </a:p>
        </p:txBody>
      </p:sp>
      <p:sp>
        <p:nvSpPr>
          <p:cNvPr id="28" name="HeroChip3"/>
          <p:cNvSpPr/>
          <p:nvPr/>
        </p:nvSpPr>
        <p:spPr>
          <a:xfrm>
            <a:off x="7452360" y="2642616"/>
            <a:ext cx="1188720" cy="329184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29" name="HeroChipText3"/>
          <p:cNvSpPr txBox="1"/>
          <p:nvPr/>
        </p:nvSpPr>
        <p:spPr>
          <a:xfrm>
            <a:off x="7452360" y="2642616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Risks</a:t>
            </a:r>
            <a:endParaRPr lang="en-US" sz="1200" dirty="0"/>
          </a:p>
        </p:txBody>
      </p:sp>
      <p:sp>
        <p:nvSpPr>
          <p:cNvPr id="30" name="HeroCaption"/>
          <p:cNvSpPr txBox="1"/>
          <p:nvPr/>
        </p:nvSpPr>
        <p:spPr>
          <a:xfrm>
            <a:off x="5212080" y="3337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Long document  →  clear summary</a:t>
            </a:r>
            <a:endParaRPr lang="en-US" sz="1600" dirty="0"/>
          </a:p>
        </p:txBody>
      </p:sp>
      <p:sp>
        <p:nvSpPr>
          <p:cNvPr id="31" name="TechStack"/>
          <p:cNvSpPr txBox="1"/>
          <p:nvPr/>
        </p:nvSpPr>
        <p:spPr>
          <a:xfrm>
            <a:off x="5212080" y="3931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Python  ·  Flask  ·  Natural Language Processing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problem we solve</a:t>
            </a:r>
            <a:endParaRPr lang="en-US" sz="3200" dirty="0"/>
          </a:p>
        </p:txBody>
      </p:sp>
      <p:sp>
        <p:nvSpPr>
          <p:cNvPr id="3" name="BeforeHead"/>
          <p:cNvSpPr txBox="1"/>
          <p:nvPr/>
        </p:nvSpPr>
        <p:spPr>
          <a:xfrm>
            <a:off x="457200" y="114300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4"/>
                </a:solidFill>
              </a:rPr>
              <a:t>A tender: dozens of pages</a:t>
            </a:r>
            <a:endParaRPr lang="en-US" sz="1600" dirty="0"/>
          </a:p>
        </p:txBody>
      </p:sp>
      <p:sp>
        <p:nvSpPr>
          <p:cNvPr id="4" name="BeforePage"/>
          <p:cNvSpPr/>
          <p:nvPr/>
        </p:nvSpPr>
        <p:spPr>
          <a:xfrm>
            <a:off x="457200" y="1554480"/>
            <a:ext cx="3566160" cy="3154680"/>
          </a:xfrm>
          <a:prstGeom prst="roundRect">
            <a:avLst>
              <a:gd name="adj" fmla="val 173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eforeLine0"/>
          <p:cNvSpPr/>
          <p:nvPr/>
        </p:nvSpPr>
        <p:spPr>
          <a:xfrm>
            <a:off x="594360" y="1719072"/>
            <a:ext cx="2798064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BeforeLine1"/>
          <p:cNvSpPr/>
          <p:nvPr/>
        </p:nvSpPr>
        <p:spPr>
          <a:xfrm>
            <a:off x="594360" y="1920240"/>
            <a:ext cx="3291840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BeforeHl2"/>
          <p:cNvSpPr/>
          <p:nvPr/>
        </p:nvSpPr>
        <p:spPr>
          <a:xfrm>
            <a:off x="566928" y="2093976"/>
            <a:ext cx="3346704" cy="219456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BeforeHlText2"/>
          <p:cNvSpPr txBox="1"/>
          <p:nvPr/>
        </p:nvSpPr>
        <p:spPr>
          <a:xfrm>
            <a:off x="640080" y="20939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Last date: 30/09/2023</a:t>
            </a:r>
            <a:endParaRPr lang="en-US" sz="1100" dirty="0"/>
          </a:p>
        </p:txBody>
      </p:sp>
      <p:sp>
        <p:nvSpPr>
          <p:cNvPr id="9" name="BeforeLine3"/>
          <p:cNvSpPr/>
          <p:nvPr/>
        </p:nvSpPr>
        <p:spPr>
          <a:xfrm>
            <a:off x="594360" y="2322576"/>
            <a:ext cx="1975104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BeforeLine4"/>
          <p:cNvSpPr/>
          <p:nvPr/>
        </p:nvSpPr>
        <p:spPr>
          <a:xfrm>
            <a:off x="594360" y="2523744"/>
            <a:ext cx="3291840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BeforeLine5"/>
          <p:cNvSpPr/>
          <p:nvPr/>
        </p:nvSpPr>
        <p:spPr>
          <a:xfrm>
            <a:off x="594360" y="2724912"/>
            <a:ext cx="3291840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BeforeHl6"/>
          <p:cNvSpPr/>
          <p:nvPr/>
        </p:nvSpPr>
        <p:spPr>
          <a:xfrm>
            <a:off x="566928" y="2898648"/>
            <a:ext cx="3346704" cy="219456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BeforeHlText6"/>
          <p:cNvSpPr txBox="1"/>
          <p:nvPr/>
        </p:nvSpPr>
        <p:spPr>
          <a:xfrm>
            <a:off x="640080" y="28986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EMD: 5% deposit</a:t>
            </a:r>
            <a:endParaRPr lang="en-US" sz="1100" dirty="0"/>
          </a:p>
        </p:txBody>
      </p:sp>
      <p:sp>
        <p:nvSpPr>
          <p:cNvPr id="14" name="BeforeLine7"/>
          <p:cNvSpPr/>
          <p:nvPr/>
        </p:nvSpPr>
        <p:spPr>
          <a:xfrm>
            <a:off x="594360" y="3127248"/>
            <a:ext cx="1975104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BeforeLine8"/>
          <p:cNvSpPr/>
          <p:nvPr/>
        </p:nvSpPr>
        <p:spPr>
          <a:xfrm>
            <a:off x="594360" y="3328416"/>
            <a:ext cx="3291840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BeforeLine9"/>
          <p:cNvSpPr/>
          <p:nvPr/>
        </p:nvSpPr>
        <p:spPr>
          <a:xfrm>
            <a:off x="594360" y="3529584"/>
            <a:ext cx="2798064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BeforeHl10"/>
          <p:cNvSpPr/>
          <p:nvPr/>
        </p:nvSpPr>
        <p:spPr>
          <a:xfrm>
            <a:off x="566928" y="3703320"/>
            <a:ext cx="3346704" cy="219456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BeforeHlText10"/>
          <p:cNvSpPr txBox="1"/>
          <p:nvPr/>
        </p:nvSpPr>
        <p:spPr>
          <a:xfrm>
            <a:off x="640080" y="370332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PAN and GST required</a:t>
            </a:r>
            <a:endParaRPr lang="en-US" sz="1100" dirty="0"/>
          </a:p>
        </p:txBody>
      </p:sp>
      <p:sp>
        <p:nvSpPr>
          <p:cNvPr id="19" name="BeforeLine11"/>
          <p:cNvSpPr/>
          <p:nvPr/>
        </p:nvSpPr>
        <p:spPr>
          <a:xfrm>
            <a:off x="594360" y="3931920"/>
            <a:ext cx="1975104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BeforeLine12"/>
          <p:cNvSpPr/>
          <p:nvPr/>
        </p:nvSpPr>
        <p:spPr>
          <a:xfrm>
            <a:off x="594360" y="4133088"/>
            <a:ext cx="2798064" cy="91440"/>
          </a:xfrm>
          <a:prstGeom prst="roundRect">
            <a:avLst>
              <a:gd name="adj" fmla="val 60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1" name="BeforeHl13"/>
          <p:cNvSpPr/>
          <p:nvPr/>
        </p:nvSpPr>
        <p:spPr>
          <a:xfrm>
            <a:off x="566928" y="4306824"/>
            <a:ext cx="3346704" cy="219456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2" name="BeforeHlText13"/>
          <p:cNvSpPr txBox="1"/>
          <p:nvPr/>
        </p:nvSpPr>
        <p:spPr>
          <a:xfrm>
            <a:off x="640080" y="4306824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Late bids rejected</a:t>
            </a:r>
            <a:endParaRPr lang="en-US" sz="1100" dirty="0"/>
          </a:p>
        </p:txBody>
      </p:sp>
      <p:sp>
        <p:nvSpPr>
          <p:cNvPr id="23" name="MidArrow"/>
          <p:cNvSpPr/>
          <p:nvPr/>
        </p:nvSpPr>
        <p:spPr>
          <a:xfrm>
            <a:off x="4160520" y="2788920"/>
            <a:ext cx="640080" cy="54864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MidLabel"/>
          <p:cNvSpPr txBox="1"/>
          <p:nvPr/>
        </p:nvSpPr>
        <p:spPr>
          <a:xfrm>
            <a:off x="4023360" y="33832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TenderIQ</a:t>
            </a:r>
            <a:endParaRPr lang="en-US" sz="1200" dirty="0"/>
          </a:p>
        </p:txBody>
      </p:sp>
      <p:sp>
        <p:nvSpPr>
          <p:cNvPr id="25" name="AfterHead"/>
          <p:cNvSpPr txBox="1"/>
          <p:nvPr/>
        </p:nvSpPr>
        <p:spPr>
          <a:xfrm>
            <a:off x="5074920" y="1143000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One clear page</a:t>
            </a:r>
            <a:endParaRPr lang="en-US" sz="1600" dirty="0"/>
          </a:p>
        </p:txBody>
      </p:sp>
      <p:sp>
        <p:nvSpPr>
          <p:cNvPr id="26" name="AfterCard"/>
          <p:cNvSpPr/>
          <p:nvPr/>
        </p:nvSpPr>
        <p:spPr>
          <a:xfrm>
            <a:off x="5074920" y="1554480"/>
            <a:ext cx="3611880" cy="3154680"/>
          </a:xfrm>
          <a:prstGeom prst="roundRect">
            <a:avLst>
              <a:gd name="adj" fmla="val 173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AfterRow0"/>
          <p:cNvSpPr/>
          <p:nvPr/>
        </p:nvSpPr>
        <p:spPr>
          <a:xfrm>
            <a:off x="5212080" y="1691640"/>
            <a:ext cx="3337560" cy="603504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AfterTag0"/>
          <p:cNvSpPr/>
          <p:nvPr/>
        </p:nvSpPr>
        <p:spPr>
          <a:xfrm>
            <a:off x="5303520" y="1801368"/>
            <a:ext cx="1143000" cy="384048"/>
          </a:xfrm>
          <a:prstGeom prst="roundRect">
            <a:avLst>
              <a:gd name="adj" fmla="val 14286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9" name="AfterTagText0"/>
          <p:cNvSpPr txBox="1"/>
          <p:nvPr/>
        </p:nvSpPr>
        <p:spPr>
          <a:xfrm>
            <a:off x="5303520" y="1801368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Deadline</a:t>
            </a:r>
            <a:endParaRPr lang="en-US" sz="1100" dirty="0"/>
          </a:p>
        </p:txBody>
      </p:sp>
      <p:sp>
        <p:nvSpPr>
          <p:cNvPr id="30" name="AfterValue0"/>
          <p:cNvSpPr txBox="1"/>
          <p:nvPr/>
        </p:nvSpPr>
        <p:spPr>
          <a:xfrm>
            <a:off x="6537960" y="173736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30/09/2023</a:t>
            </a:r>
            <a:endParaRPr lang="en-US" sz="1200" dirty="0"/>
          </a:p>
        </p:txBody>
      </p:sp>
      <p:sp>
        <p:nvSpPr>
          <p:cNvPr id="31" name="AfterRow1"/>
          <p:cNvSpPr/>
          <p:nvPr/>
        </p:nvSpPr>
        <p:spPr>
          <a:xfrm>
            <a:off x="5212080" y="2404872"/>
            <a:ext cx="3337560" cy="603504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AfterTag1"/>
          <p:cNvSpPr/>
          <p:nvPr/>
        </p:nvSpPr>
        <p:spPr>
          <a:xfrm>
            <a:off x="5303520" y="2514600"/>
            <a:ext cx="1143000" cy="384048"/>
          </a:xfrm>
          <a:prstGeom prst="roundRect">
            <a:avLst>
              <a:gd name="adj" fmla="val 14286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AfterTagText1"/>
          <p:cNvSpPr txBox="1"/>
          <p:nvPr/>
        </p:nvSpPr>
        <p:spPr>
          <a:xfrm>
            <a:off x="5303520" y="251460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Deposit (EMD)</a:t>
            </a:r>
            <a:endParaRPr lang="en-US" sz="1100" dirty="0"/>
          </a:p>
        </p:txBody>
      </p:sp>
      <p:sp>
        <p:nvSpPr>
          <p:cNvPr id="34" name="AfterValue1"/>
          <p:cNvSpPr txBox="1"/>
          <p:nvPr/>
        </p:nvSpPr>
        <p:spPr>
          <a:xfrm>
            <a:off x="6537960" y="245059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5% of value</a:t>
            </a:r>
            <a:endParaRPr lang="en-US" sz="1200" dirty="0"/>
          </a:p>
        </p:txBody>
      </p:sp>
      <p:sp>
        <p:nvSpPr>
          <p:cNvPr id="35" name="AfterRow2"/>
          <p:cNvSpPr/>
          <p:nvPr/>
        </p:nvSpPr>
        <p:spPr>
          <a:xfrm>
            <a:off x="5212080" y="3118104"/>
            <a:ext cx="3337560" cy="603504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AfterTag2"/>
          <p:cNvSpPr/>
          <p:nvPr/>
        </p:nvSpPr>
        <p:spPr>
          <a:xfrm>
            <a:off x="5303520" y="3227832"/>
            <a:ext cx="1143000" cy="384048"/>
          </a:xfrm>
          <a:prstGeom prst="roundRect">
            <a:avLst>
              <a:gd name="adj" fmla="val 1428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AfterTagText2"/>
          <p:cNvSpPr txBox="1"/>
          <p:nvPr/>
        </p:nvSpPr>
        <p:spPr>
          <a:xfrm>
            <a:off x="5303520" y="322783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Documents</a:t>
            </a:r>
            <a:endParaRPr lang="en-US" sz="1100" dirty="0"/>
          </a:p>
        </p:txBody>
      </p:sp>
      <p:sp>
        <p:nvSpPr>
          <p:cNvPr id="38" name="AfterValue2"/>
          <p:cNvSpPr txBox="1"/>
          <p:nvPr/>
        </p:nvSpPr>
        <p:spPr>
          <a:xfrm>
            <a:off x="6537960" y="316382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PAN, GST, registration</a:t>
            </a:r>
            <a:endParaRPr lang="en-US" sz="1200" dirty="0"/>
          </a:p>
        </p:txBody>
      </p:sp>
      <p:sp>
        <p:nvSpPr>
          <p:cNvPr id="39" name="AfterRow3"/>
          <p:cNvSpPr/>
          <p:nvPr/>
        </p:nvSpPr>
        <p:spPr>
          <a:xfrm>
            <a:off x="5212080" y="3831336"/>
            <a:ext cx="3337560" cy="603504"/>
          </a:xfrm>
          <a:prstGeom prst="roundRect">
            <a:avLst>
              <a:gd name="adj" fmla="val 9091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0" name="AfterTag3"/>
          <p:cNvSpPr/>
          <p:nvPr/>
        </p:nvSpPr>
        <p:spPr>
          <a:xfrm>
            <a:off x="5303520" y="3941064"/>
            <a:ext cx="1143000" cy="384048"/>
          </a:xfrm>
          <a:prstGeom prst="roundRect">
            <a:avLst>
              <a:gd name="adj" fmla="val 14286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41" name="AfterTagText3"/>
          <p:cNvSpPr txBox="1"/>
          <p:nvPr/>
        </p:nvSpPr>
        <p:spPr>
          <a:xfrm>
            <a:off x="5303520" y="3941064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Risk alert</a:t>
            </a:r>
            <a:endParaRPr lang="en-US" sz="1100" dirty="0"/>
          </a:p>
        </p:txBody>
      </p:sp>
      <p:sp>
        <p:nvSpPr>
          <p:cNvPr id="42" name="AfterValue3"/>
          <p:cNvSpPr txBox="1"/>
          <p:nvPr/>
        </p:nvSpPr>
        <p:spPr>
          <a:xfrm>
            <a:off x="6537960" y="387705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Late or missing papers = rejection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TenderIQ works: the workflow</a:t>
            </a:r>
            <a:endParaRPr lang="en-US" sz="3200" dirty="0"/>
          </a:p>
        </p:txBody>
      </p:sp>
      <p:sp>
        <p:nvSpPr>
          <p:cNvPr id="3" name="StageDot1"/>
          <p:cNvSpPr/>
          <p:nvPr/>
        </p:nvSpPr>
        <p:spPr>
          <a:xfrm>
            <a:off x="777240" y="118872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" name="StageIcon1" descr="Uploa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365760" cy="365760"/>
          </a:xfrm>
          <a:prstGeom prst="rect">
            <a:avLst/>
          </a:prstGeom>
        </p:spPr>
      </p:pic>
      <p:sp>
        <p:nvSpPr>
          <p:cNvPr id="5" name="StageArrow1"/>
          <p:cNvSpPr/>
          <p:nvPr/>
        </p:nvSpPr>
        <p:spPr>
          <a:xfrm>
            <a:off x="1554480" y="1554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6" name="StageTitle1"/>
          <p:cNvSpPr txBox="1"/>
          <p:nvPr/>
        </p:nvSpPr>
        <p:spPr>
          <a:xfrm>
            <a:off x="457200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1. Upload</a:t>
            </a:r>
            <a:endParaRPr lang="en-US" sz="1500" dirty="0"/>
          </a:p>
        </p:txBody>
      </p:sp>
      <p:sp>
        <p:nvSpPr>
          <p:cNvPr id="7" name="StageDesc1"/>
          <p:cNvSpPr txBox="1"/>
          <p:nvPr/>
        </p:nvSpPr>
        <p:spPr>
          <a:xfrm>
            <a:off x="502920" y="2468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PDF, TXT file or pasted text</a:t>
            </a:r>
            <a:endParaRPr lang="en-US" sz="1200" dirty="0"/>
          </a:p>
        </p:txBody>
      </p:sp>
      <p:sp>
        <p:nvSpPr>
          <p:cNvPr id="8" name="StageEx1"/>
          <p:cNvSpPr/>
          <p:nvPr/>
        </p:nvSpPr>
        <p:spPr>
          <a:xfrm>
            <a:off x="457200" y="3474720"/>
            <a:ext cx="128016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StageExText1"/>
          <p:cNvSpPr txBox="1"/>
          <p:nvPr/>
        </p:nvSpPr>
        <p:spPr>
          <a:xfrm>
            <a:off x="502920" y="3474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tender.pdf</a:t>
            </a:r>
            <a:endParaRPr lang="en-US" sz="1100" dirty="0"/>
          </a:p>
        </p:txBody>
      </p:sp>
      <p:sp>
        <p:nvSpPr>
          <p:cNvPr id="10" name="StageDot2"/>
          <p:cNvSpPr/>
          <p:nvPr/>
        </p:nvSpPr>
        <p:spPr>
          <a:xfrm>
            <a:off x="2148840" y="1188720"/>
            <a:ext cx="731520" cy="73152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1" name="StageIcon2" descr="Read tex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720" y="1371600"/>
            <a:ext cx="365760" cy="365760"/>
          </a:xfrm>
          <a:prstGeom prst="rect">
            <a:avLst/>
          </a:prstGeom>
        </p:spPr>
      </p:pic>
      <p:sp>
        <p:nvSpPr>
          <p:cNvPr id="12" name="StageArrow2"/>
          <p:cNvSpPr/>
          <p:nvPr/>
        </p:nvSpPr>
        <p:spPr>
          <a:xfrm>
            <a:off x="2926080" y="1554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3" name="StageTitle2"/>
          <p:cNvSpPr txBox="1"/>
          <p:nvPr/>
        </p:nvSpPr>
        <p:spPr>
          <a:xfrm>
            <a:off x="1828800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2. Read text</a:t>
            </a:r>
            <a:endParaRPr lang="en-US" sz="1500" dirty="0"/>
          </a:p>
        </p:txBody>
      </p:sp>
      <p:sp>
        <p:nvSpPr>
          <p:cNvPr id="14" name="StageDesc2"/>
          <p:cNvSpPr txBox="1"/>
          <p:nvPr/>
        </p:nvSpPr>
        <p:spPr>
          <a:xfrm>
            <a:off x="1874520" y="2468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Text is pulled out of every page</a:t>
            </a:r>
            <a:endParaRPr lang="en-US" sz="1200" dirty="0"/>
          </a:p>
        </p:txBody>
      </p:sp>
      <p:sp>
        <p:nvSpPr>
          <p:cNvPr id="15" name="StageEx2"/>
          <p:cNvSpPr/>
          <p:nvPr/>
        </p:nvSpPr>
        <p:spPr>
          <a:xfrm>
            <a:off x="1828800" y="3474720"/>
            <a:ext cx="128016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tageExText2"/>
          <p:cNvSpPr txBox="1"/>
          <p:nvPr/>
        </p:nvSpPr>
        <p:spPr>
          <a:xfrm>
            <a:off x="1874520" y="3474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Page 1 … Page 40</a:t>
            </a:r>
            <a:endParaRPr lang="en-US" sz="1100" dirty="0"/>
          </a:p>
        </p:txBody>
      </p:sp>
      <p:sp>
        <p:nvSpPr>
          <p:cNvPr id="17" name="StageDot3"/>
          <p:cNvSpPr/>
          <p:nvPr/>
        </p:nvSpPr>
        <p:spPr>
          <a:xfrm>
            <a:off x="3520440" y="1188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8" name="StageIcon3" descr="Clean tex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1371600"/>
            <a:ext cx="365760" cy="365760"/>
          </a:xfrm>
          <a:prstGeom prst="rect">
            <a:avLst/>
          </a:prstGeom>
        </p:spPr>
      </p:pic>
      <p:sp>
        <p:nvSpPr>
          <p:cNvPr id="19" name="StageArrow3"/>
          <p:cNvSpPr/>
          <p:nvPr/>
        </p:nvSpPr>
        <p:spPr>
          <a:xfrm>
            <a:off x="4297680" y="1554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0" name="StageTitle3"/>
          <p:cNvSpPr txBox="1"/>
          <p:nvPr/>
        </p:nvSpPr>
        <p:spPr>
          <a:xfrm>
            <a:off x="3200400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3. Clean text</a:t>
            </a:r>
            <a:endParaRPr lang="en-US" sz="1500" dirty="0"/>
          </a:p>
        </p:txBody>
      </p:sp>
      <p:sp>
        <p:nvSpPr>
          <p:cNvPr id="21" name="StageDesc3"/>
          <p:cNvSpPr txBox="1"/>
          <p:nvPr/>
        </p:nvSpPr>
        <p:spPr>
          <a:xfrm>
            <a:off x="3246120" y="2468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Split into words, drop filler, fix spelling</a:t>
            </a:r>
            <a:endParaRPr lang="en-US" sz="1200" dirty="0"/>
          </a:p>
        </p:txBody>
      </p:sp>
      <p:sp>
        <p:nvSpPr>
          <p:cNvPr id="22" name="StageEx3"/>
          <p:cNvSpPr/>
          <p:nvPr/>
        </p:nvSpPr>
        <p:spPr>
          <a:xfrm>
            <a:off x="3200400" y="3474720"/>
            <a:ext cx="128016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tageExText3"/>
          <p:cNvSpPr txBox="1"/>
          <p:nvPr/>
        </p:nvSpPr>
        <p:spPr>
          <a:xfrm>
            <a:off x="3246120" y="3474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Elegibility → Eligibility</a:t>
            </a:r>
            <a:endParaRPr lang="en-US" sz="1100" dirty="0"/>
          </a:p>
        </p:txBody>
      </p:sp>
      <p:sp>
        <p:nvSpPr>
          <p:cNvPr id="24" name="StageDot4"/>
          <p:cNvSpPr/>
          <p:nvPr/>
        </p:nvSpPr>
        <p:spPr>
          <a:xfrm>
            <a:off x="4892040" y="1188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StageIcon4" descr="Find detai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371600"/>
            <a:ext cx="365760" cy="365760"/>
          </a:xfrm>
          <a:prstGeom prst="rect">
            <a:avLst/>
          </a:prstGeom>
        </p:spPr>
      </p:pic>
      <p:sp>
        <p:nvSpPr>
          <p:cNvPr id="26" name="StageArrow4"/>
          <p:cNvSpPr/>
          <p:nvPr/>
        </p:nvSpPr>
        <p:spPr>
          <a:xfrm>
            <a:off x="5669280" y="1554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27" name="StageTitle4"/>
          <p:cNvSpPr txBox="1"/>
          <p:nvPr/>
        </p:nvSpPr>
        <p:spPr>
          <a:xfrm>
            <a:off x="4572000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4. Find details</a:t>
            </a:r>
            <a:endParaRPr lang="en-US" sz="1500" dirty="0"/>
          </a:p>
        </p:txBody>
      </p:sp>
      <p:sp>
        <p:nvSpPr>
          <p:cNvPr id="28" name="StageDesc4"/>
          <p:cNvSpPr txBox="1"/>
          <p:nvPr/>
        </p:nvSpPr>
        <p:spPr>
          <a:xfrm>
            <a:off x="4617720" y="2468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Patterns spot dates, money, names</a:t>
            </a:r>
            <a:endParaRPr lang="en-US" sz="1200" dirty="0"/>
          </a:p>
        </p:txBody>
      </p:sp>
      <p:sp>
        <p:nvSpPr>
          <p:cNvPr id="29" name="StageEx4"/>
          <p:cNvSpPr/>
          <p:nvPr/>
        </p:nvSpPr>
        <p:spPr>
          <a:xfrm>
            <a:off x="4572000" y="3474720"/>
            <a:ext cx="128016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StageExText4"/>
          <p:cNvSpPr txBox="1"/>
          <p:nvPr/>
        </p:nvSpPr>
        <p:spPr>
          <a:xfrm>
            <a:off x="4617720" y="3474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30/09/2023 → Deadline</a:t>
            </a:r>
            <a:endParaRPr lang="en-US" sz="1100" dirty="0"/>
          </a:p>
        </p:txBody>
      </p:sp>
      <p:sp>
        <p:nvSpPr>
          <p:cNvPr id="31" name="StageDot5"/>
          <p:cNvSpPr/>
          <p:nvPr/>
        </p:nvSpPr>
        <p:spPr>
          <a:xfrm>
            <a:off x="6263640" y="118872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2" name="StageIcon5" descr="Sort lin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371600"/>
            <a:ext cx="365760" cy="365760"/>
          </a:xfrm>
          <a:prstGeom prst="rect">
            <a:avLst/>
          </a:prstGeom>
        </p:spPr>
      </p:pic>
      <p:sp>
        <p:nvSpPr>
          <p:cNvPr id="33" name="StageArrow5"/>
          <p:cNvSpPr/>
          <p:nvPr/>
        </p:nvSpPr>
        <p:spPr>
          <a:xfrm>
            <a:off x="7040880" y="1554480"/>
            <a:ext cx="548640" cy="0"/>
          </a:xfrm>
          <a:prstGeom prst="line">
            <a:avLst/>
          </a:prstGeom>
          <a:noFill/>
          <a:ln w="31750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4" name="StageTitle5"/>
          <p:cNvSpPr txBox="1"/>
          <p:nvPr/>
        </p:nvSpPr>
        <p:spPr>
          <a:xfrm>
            <a:off x="5943600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5. Sort lines</a:t>
            </a:r>
            <a:endParaRPr lang="en-US" sz="1500" dirty="0"/>
          </a:p>
        </p:txBody>
      </p:sp>
      <p:sp>
        <p:nvSpPr>
          <p:cNvPr id="35" name="StageDesc5"/>
          <p:cNvSpPr txBox="1"/>
          <p:nvPr/>
        </p:nvSpPr>
        <p:spPr>
          <a:xfrm>
            <a:off x="5989320" y="2468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Each line is labelled by topic</a:t>
            </a:r>
            <a:endParaRPr lang="en-US" sz="1200" dirty="0"/>
          </a:p>
        </p:txBody>
      </p:sp>
      <p:sp>
        <p:nvSpPr>
          <p:cNvPr id="36" name="StageEx5"/>
          <p:cNvSpPr/>
          <p:nvPr/>
        </p:nvSpPr>
        <p:spPr>
          <a:xfrm>
            <a:off x="5943600" y="3474720"/>
            <a:ext cx="128016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StageExText5"/>
          <p:cNvSpPr txBox="1"/>
          <p:nvPr/>
        </p:nvSpPr>
        <p:spPr>
          <a:xfrm>
            <a:off x="5989320" y="3474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"EMD 5%" → Financial</a:t>
            </a:r>
            <a:endParaRPr lang="en-US" sz="1100" dirty="0"/>
          </a:p>
        </p:txBody>
      </p:sp>
      <p:sp>
        <p:nvSpPr>
          <p:cNvPr id="38" name="StageDot6"/>
          <p:cNvSpPr/>
          <p:nvPr/>
        </p:nvSpPr>
        <p:spPr>
          <a:xfrm>
            <a:off x="7635240" y="1188720"/>
            <a:ext cx="731520" cy="73152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39" name="StageIcon6" descr="Show resul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1371600"/>
            <a:ext cx="365760" cy="365760"/>
          </a:xfrm>
          <a:prstGeom prst="rect">
            <a:avLst/>
          </a:prstGeom>
        </p:spPr>
      </p:pic>
      <p:sp>
        <p:nvSpPr>
          <p:cNvPr id="40" name="StageTitle6"/>
          <p:cNvSpPr txBox="1"/>
          <p:nvPr/>
        </p:nvSpPr>
        <p:spPr>
          <a:xfrm>
            <a:off x="7315200" y="2057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6. Show result</a:t>
            </a:r>
            <a:endParaRPr lang="en-US" sz="1500" dirty="0"/>
          </a:p>
        </p:txBody>
      </p:sp>
      <p:sp>
        <p:nvSpPr>
          <p:cNvPr id="41" name="StageDesc6"/>
          <p:cNvSpPr txBox="1"/>
          <p:nvPr/>
        </p:nvSpPr>
        <p:spPr>
          <a:xfrm>
            <a:off x="7360920" y="246888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One page summary, alerts, JSON file</a:t>
            </a:r>
            <a:endParaRPr lang="en-US" sz="1200" dirty="0"/>
          </a:p>
        </p:txBody>
      </p:sp>
      <p:sp>
        <p:nvSpPr>
          <p:cNvPr id="42" name="StageEx6"/>
          <p:cNvSpPr/>
          <p:nvPr/>
        </p:nvSpPr>
        <p:spPr>
          <a:xfrm>
            <a:off x="7315200" y="3474720"/>
            <a:ext cx="128016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3" name="StageExText6"/>
          <p:cNvSpPr txBox="1"/>
          <p:nvPr/>
        </p:nvSpPr>
        <p:spPr>
          <a:xfrm>
            <a:off x="7360920" y="3474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Dashboard</a:t>
            </a:r>
            <a:endParaRPr lang="en-US" sz="1100" dirty="0"/>
          </a:p>
        </p:txBody>
      </p:sp>
      <p:sp>
        <p:nvSpPr>
          <p:cNvPr id="44" name="Band0"/>
          <p:cNvSpPr/>
          <p:nvPr/>
        </p:nvSpPr>
        <p:spPr>
          <a:xfrm>
            <a:off x="457200" y="4343400"/>
            <a:ext cx="2651760" cy="36576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5" name="BandText0"/>
          <p:cNvSpPr txBox="1"/>
          <p:nvPr/>
        </p:nvSpPr>
        <p:spPr>
          <a:xfrm>
            <a:off x="457200" y="4343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INPUT</a:t>
            </a:r>
            <a:endParaRPr lang="en-US" sz="1300" dirty="0"/>
          </a:p>
        </p:txBody>
      </p:sp>
      <p:sp>
        <p:nvSpPr>
          <p:cNvPr id="46" name="Band1"/>
          <p:cNvSpPr/>
          <p:nvPr/>
        </p:nvSpPr>
        <p:spPr>
          <a:xfrm>
            <a:off x="3200400" y="4343400"/>
            <a:ext cx="4023360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7" name="BandText1"/>
          <p:cNvSpPr txBox="1"/>
          <p:nvPr/>
        </p:nvSpPr>
        <p:spPr>
          <a:xfrm>
            <a:off x="320040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PROCESSING</a:t>
            </a:r>
            <a:endParaRPr lang="en-US" sz="1300" dirty="0"/>
          </a:p>
        </p:txBody>
      </p:sp>
      <p:sp>
        <p:nvSpPr>
          <p:cNvPr id="48" name="Band2"/>
          <p:cNvSpPr/>
          <p:nvPr/>
        </p:nvSpPr>
        <p:spPr>
          <a:xfrm>
            <a:off x="7315200" y="4343400"/>
            <a:ext cx="1280160" cy="36576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9" name="BandText2"/>
          <p:cNvSpPr txBox="1"/>
          <p:nvPr/>
        </p:nvSpPr>
        <p:spPr>
          <a:xfrm>
            <a:off x="7315200" y="43434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chemeClr val="bg1"/>
                </a:solidFill>
              </a:rPr>
              <a:t>OUTPUT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The result: output and achievements</a:t>
            </a:r>
            <a:endParaRPr lang="en-US" sz="3200" dirty="0"/>
          </a:p>
        </p:txBody>
      </p:sp>
      <p:sp>
        <p:nvSpPr>
          <p:cNvPr id="3" name="DashCard"/>
          <p:cNvSpPr/>
          <p:nvPr/>
        </p:nvSpPr>
        <p:spPr>
          <a:xfrm>
            <a:off x="457200" y="1188720"/>
            <a:ext cx="4572000" cy="3566160"/>
          </a:xfrm>
          <a:prstGeom prst="roundRect">
            <a:avLst>
              <a:gd name="adj" fmla="val 153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DashBar"/>
          <p:cNvSpPr/>
          <p:nvPr/>
        </p:nvSpPr>
        <p:spPr>
          <a:xfrm>
            <a:off x="457200" y="1188720"/>
            <a:ext cx="4572000" cy="411480"/>
          </a:xfrm>
          <a:prstGeom prst="roundRect">
            <a:avLst>
              <a:gd name="adj" fmla="val 13333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DashBarText"/>
          <p:cNvSpPr txBox="1"/>
          <p:nvPr/>
        </p:nvSpPr>
        <p:spPr>
          <a:xfrm>
            <a:off x="594360" y="11887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TenderIQ  –  Analysis results (sample tender)</a:t>
            </a:r>
            <a:endParaRPr lang="en-US" sz="1200" dirty="0"/>
          </a:p>
        </p:txBody>
      </p:sp>
      <p:sp>
        <p:nvSpPr>
          <p:cNvPr id="6" name="DashTitle"/>
          <p:cNvSpPr txBox="1"/>
          <p:nvPr/>
        </p:nvSpPr>
        <p:spPr>
          <a:xfrm>
            <a:off x="640080" y="1691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Sample Procurement</a:t>
            </a:r>
            <a:endParaRPr lang="en-US" sz="1600" dirty="0"/>
          </a:p>
        </p:txBody>
      </p:sp>
      <p:sp>
        <p:nvSpPr>
          <p:cNvPr id="7" name="DashRef"/>
          <p:cNvSpPr txBox="1"/>
          <p:nvPr/>
        </p:nvSpPr>
        <p:spPr>
          <a:xfrm>
            <a:off x="640080" y="20116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Ref: TQ-2023-001  ·  Department of Public Works</a:t>
            </a:r>
            <a:endParaRPr lang="en-US" sz="1200" dirty="0"/>
          </a:p>
        </p:txBody>
      </p:sp>
      <p:sp>
        <p:nvSpPr>
          <p:cNvPr id="8" name="DashAlert0"/>
          <p:cNvSpPr/>
          <p:nvPr/>
        </p:nvSpPr>
        <p:spPr>
          <a:xfrm>
            <a:off x="640080" y="2377440"/>
            <a:ext cx="1188720" cy="310896"/>
          </a:xfrm>
          <a:prstGeom prst="roundRect">
            <a:avLst>
              <a:gd name="adj" fmla="val 17647"/>
            </a:avLst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DashAlertText0"/>
          <p:cNvSpPr txBox="1"/>
          <p:nvPr/>
        </p:nvSpPr>
        <p:spPr>
          <a:xfrm>
            <a:off x="640080" y="23774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Risk Warning</a:t>
            </a:r>
            <a:endParaRPr lang="en-US" sz="1100" dirty="0"/>
          </a:p>
        </p:txBody>
      </p:sp>
      <p:sp>
        <p:nvSpPr>
          <p:cNvPr id="10" name="DashAlert1"/>
          <p:cNvSpPr/>
          <p:nvPr/>
        </p:nvSpPr>
        <p:spPr>
          <a:xfrm>
            <a:off x="1920240" y="2377440"/>
            <a:ext cx="1280160" cy="310896"/>
          </a:xfrm>
          <a:prstGeom prst="roundRect">
            <a:avLst>
              <a:gd name="adj" fmla="val 1764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DashAlertText1"/>
          <p:cNvSpPr txBox="1"/>
          <p:nvPr/>
        </p:nvSpPr>
        <p:spPr>
          <a:xfrm>
            <a:off x="1920240" y="23774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Financial Alert</a:t>
            </a:r>
            <a:endParaRPr lang="en-US" sz="1100" dirty="0"/>
          </a:p>
        </p:txBody>
      </p:sp>
      <p:sp>
        <p:nvSpPr>
          <p:cNvPr id="12" name="DashBox0"/>
          <p:cNvSpPr/>
          <p:nvPr/>
        </p:nvSpPr>
        <p:spPr>
          <a:xfrm>
            <a:off x="640080" y="2880360"/>
            <a:ext cx="1371600" cy="146304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3" name="DashBoxHead0"/>
          <p:cNvSpPr txBox="1"/>
          <p:nvPr/>
        </p:nvSpPr>
        <p:spPr>
          <a:xfrm>
            <a:off x="731520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Key dates</a:t>
            </a:r>
            <a:endParaRPr lang="en-US" sz="1200" dirty="0"/>
          </a:p>
        </p:txBody>
      </p:sp>
      <p:sp>
        <p:nvSpPr>
          <p:cNvPr id="14" name="DashBoxItems0"/>
          <p:cNvSpPr txBox="1"/>
          <p:nvPr/>
        </p:nvSpPr>
        <p:spPr>
          <a:xfrm>
            <a:off x="731520" y="32461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Submit: 30/09/2023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Opening: 05/10/2023</a:t>
            </a:r>
            <a:endParaRPr lang="en-US" sz="1100" dirty="0"/>
          </a:p>
        </p:txBody>
      </p:sp>
      <p:sp>
        <p:nvSpPr>
          <p:cNvPr id="15" name="DashBox1"/>
          <p:cNvSpPr/>
          <p:nvPr/>
        </p:nvSpPr>
        <p:spPr>
          <a:xfrm>
            <a:off x="2103120" y="2880360"/>
            <a:ext cx="1371600" cy="146304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DashBoxHead1"/>
          <p:cNvSpPr txBox="1"/>
          <p:nvPr/>
        </p:nvSpPr>
        <p:spPr>
          <a:xfrm>
            <a:off x="2194560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Financial</a:t>
            </a:r>
            <a:endParaRPr lang="en-US" sz="1200" dirty="0"/>
          </a:p>
        </p:txBody>
      </p:sp>
      <p:sp>
        <p:nvSpPr>
          <p:cNvPr id="17" name="DashBoxItems1"/>
          <p:cNvSpPr txBox="1"/>
          <p:nvPr/>
        </p:nvSpPr>
        <p:spPr>
          <a:xfrm>
            <a:off x="2194560" y="32461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EMD: 5%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Fee: Rs. 10,000</a:t>
            </a:r>
            <a:endParaRPr lang="en-US" sz="1100" dirty="0"/>
          </a:p>
        </p:txBody>
      </p:sp>
      <p:sp>
        <p:nvSpPr>
          <p:cNvPr id="18" name="DashBox2"/>
          <p:cNvSpPr/>
          <p:nvPr/>
        </p:nvSpPr>
        <p:spPr>
          <a:xfrm>
            <a:off x="3566160" y="2880360"/>
            <a:ext cx="1371600" cy="146304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9" name="DashBoxHead2"/>
          <p:cNvSpPr txBox="1"/>
          <p:nvPr/>
        </p:nvSpPr>
        <p:spPr>
          <a:xfrm>
            <a:off x="3657600" y="294436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Documents</a:t>
            </a:r>
            <a:endParaRPr lang="en-US" sz="1200" dirty="0"/>
          </a:p>
        </p:txBody>
      </p:sp>
      <p:sp>
        <p:nvSpPr>
          <p:cNvPr id="20" name="DashBoxItems2"/>
          <p:cNvSpPr txBox="1"/>
          <p:nvPr/>
        </p:nvSpPr>
        <p:spPr>
          <a:xfrm>
            <a:off x="3657600" y="3246120"/>
            <a:ext cx="1234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PAN card copy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GST certificate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Registration</a:t>
            </a:r>
            <a:endParaRPr lang="en-US" sz="1100" dirty="0"/>
          </a:p>
        </p:txBody>
      </p:sp>
      <p:sp>
        <p:nvSpPr>
          <p:cNvPr id="21" name="DashElig"/>
          <p:cNvSpPr txBox="1"/>
          <p:nvPr/>
        </p:nvSpPr>
        <p:spPr>
          <a:xfrm>
            <a:off x="640080" y="44348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Eligibility: minimum 5 years of experience</a:t>
            </a:r>
            <a:endParaRPr lang="en-US" sz="1100" dirty="0"/>
          </a:p>
        </p:txBody>
      </p:sp>
      <p:sp>
        <p:nvSpPr>
          <p:cNvPr id="22" name="StatCard0"/>
          <p:cNvSpPr/>
          <p:nvPr/>
        </p:nvSpPr>
        <p:spPr>
          <a:xfrm>
            <a:off x="5303520" y="1188720"/>
            <a:ext cx="338328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StatNum0"/>
          <p:cNvSpPr txBox="1"/>
          <p:nvPr/>
        </p:nvSpPr>
        <p:spPr>
          <a:xfrm>
            <a:off x="5440680" y="118872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4" name="StatLabel0"/>
          <p:cNvSpPr txBox="1"/>
          <p:nvPr/>
        </p:nvSpPr>
        <p:spPr>
          <a:xfrm>
            <a:off x="6675120" y="118872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details found automatically</a:t>
            </a:r>
            <a:endParaRPr lang="en-US" sz="1300" dirty="0"/>
          </a:p>
        </p:txBody>
      </p:sp>
      <p:sp>
        <p:nvSpPr>
          <p:cNvPr id="25" name="StatCard1"/>
          <p:cNvSpPr/>
          <p:nvPr/>
        </p:nvSpPr>
        <p:spPr>
          <a:xfrm>
            <a:off x="5303520" y="1965960"/>
            <a:ext cx="338328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6" name="StatNum1"/>
          <p:cNvSpPr txBox="1"/>
          <p:nvPr/>
        </p:nvSpPr>
        <p:spPr>
          <a:xfrm>
            <a:off x="5440680" y="196596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2600" dirty="0"/>
          </a:p>
        </p:txBody>
      </p:sp>
      <p:sp>
        <p:nvSpPr>
          <p:cNvPr id="27" name="StatLabel1"/>
          <p:cNvSpPr txBox="1"/>
          <p:nvPr/>
        </p:nvSpPr>
        <p:spPr>
          <a:xfrm>
            <a:off x="6675120" y="19659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accuracy sorting lines by topic</a:t>
            </a:r>
            <a:endParaRPr lang="en-US" sz="1300" dirty="0"/>
          </a:p>
        </p:txBody>
      </p:sp>
      <p:sp>
        <p:nvSpPr>
          <p:cNvPr id="28" name="StatCard2"/>
          <p:cNvSpPr/>
          <p:nvPr/>
        </p:nvSpPr>
        <p:spPr>
          <a:xfrm>
            <a:off x="5303520" y="2743200"/>
            <a:ext cx="3383280" cy="6858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StatNum2"/>
          <p:cNvSpPr txBox="1"/>
          <p:nvPr/>
        </p:nvSpPr>
        <p:spPr>
          <a:xfrm>
            <a:off x="5440680" y="2743200"/>
            <a:ext cx="1188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10/10</a:t>
            </a:r>
            <a:endParaRPr lang="en-US" sz="2600" dirty="0"/>
          </a:p>
        </p:txBody>
      </p:sp>
      <p:sp>
        <p:nvSpPr>
          <p:cNvPr id="30" name="StatLabel2"/>
          <p:cNvSpPr txBox="1"/>
          <p:nvPr/>
        </p:nvSpPr>
        <p:spPr>
          <a:xfrm>
            <a:off x="6675120" y="274320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heading typos fixed</a:t>
            </a:r>
            <a:endParaRPr lang="en-US" sz="1300" dirty="0"/>
          </a:p>
        </p:txBody>
      </p:sp>
      <p:sp>
        <p:nvSpPr>
          <p:cNvPr id="31" name="NextHead"/>
          <p:cNvSpPr txBox="1"/>
          <p:nvPr/>
        </p:nvSpPr>
        <p:spPr>
          <a:xfrm>
            <a:off x="5303520" y="36118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Next steps</a:t>
            </a:r>
            <a:endParaRPr lang="en-US" sz="1800" dirty="0"/>
          </a:p>
        </p:txBody>
      </p:sp>
      <p:sp>
        <p:nvSpPr>
          <p:cNvPr id="32" name="NextList"/>
          <p:cNvSpPr txBox="1"/>
          <p:nvPr/>
        </p:nvSpPr>
        <p:spPr>
          <a:xfrm>
            <a:off x="5303520" y="39776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Read scanned documents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Hindi and Marathi support</a:t>
            </a:r>
            <a:endParaRPr lang="en-US" sz="14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More examples, better accuracy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nderIQ Project">
  <a:themeElements>
    <a:clrScheme name="TenderIQ Project">
      <a:dk1>
        <a:srgbClr val="1B2A3A"/>
      </a:dk1>
      <a:lt1>
        <a:srgbClr val="FFFFFF"/>
      </a:lt1>
      <a:dk2>
        <a:srgbClr val="0F4C5C"/>
      </a:dk2>
      <a:lt2>
        <a:srgbClr val="EEF4F5"/>
      </a:lt2>
      <a:accent1>
        <a:srgbClr val="0F4C5C"/>
      </a:accent1>
      <a:accent2>
        <a:srgbClr val="E09F3E"/>
      </a:accent2>
      <a:accent3>
        <a:srgbClr val="2A9D8F"/>
      </a:accent3>
      <a:accent4>
        <a:srgbClr val="9E2A2B"/>
      </a:accent4>
      <a:accent5>
        <a:srgbClr val="5C7A89"/>
      </a:accent5>
      <a:accent6>
        <a:srgbClr val="335C67"/>
      </a:accent6>
      <a:hlink>
        <a:srgbClr val="0F4C5C"/>
      </a:hlink>
      <a:folHlink>
        <a:srgbClr val="5C7A89"/>
      </a:folHlink>
    </a:clrScheme>
    <a:fontScheme name="TenderIQ Projec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TenderIQ - Project overview</dc:title>
  <dc:subject>PptxGenJS Presentation</dc:subject>
  <dc:creator>Kunal Pandey, Bhoomika Singh, Gouri Vastava, Suraj Yadav</dc:creator>
  <cp:lastModifiedBy>Kunal Pandey, Bhoomika Singh, Gouri Vastava, Suraj Yadav</cp:lastModifiedBy>
  <cp:revision>1</cp:revision>
  <dcterms:created xsi:type="dcterms:W3CDTF">2026-10-15T05:30:03Z</dcterms:created>
  <dcterms:modified xsi:type="dcterms:W3CDTF">2026-10-15T05:30:03Z</dcterms:modified>
</cp:coreProperties>
</file>